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70" r:id="rId7"/>
    <p:sldId id="263" r:id="rId8"/>
    <p:sldId id="264" r:id="rId9"/>
    <p:sldId id="266" r:id="rId10"/>
    <p:sldId id="271" r:id="rId11"/>
    <p:sldId id="273" r:id="rId12"/>
    <p:sldId id="272" r:id="rId13"/>
    <p:sldId id="267" r:id="rId14"/>
    <p:sldId id="268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Qo3/MAJRZWT3aFncRV/tBjbpJ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878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7487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8392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556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4955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15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17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2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3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23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3" name="Google Shape;83;p23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body" idx="1"/>
          </p:nvPr>
        </p:nvSpPr>
        <p:spPr>
          <a:xfrm rot="5400000">
            <a:off x="2583180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1"/>
          </p:nvPr>
        </p:nvSpPr>
        <p:spPr>
          <a:xfrm rot="5400000">
            <a:off x="650302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4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www.tutiempo.net/clima/01-2020/ws-421810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228600" y="1676400"/>
            <a:ext cx="8686800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PREDICTION OF AIR QUALITY INDEX USING MACHINE LEARNING </a:t>
            </a:r>
            <a:br>
              <a:rPr lang="en-US" sz="5400" dirty="0"/>
            </a:br>
            <a:endParaRPr sz="3600" dirty="0"/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91440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/>
        </p:nvSpPr>
        <p:spPr>
          <a:xfrm>
            <a:off x="762000" y="4913304"/>
            <a:ext cx="1828500" cy="9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Punit Singh Lamba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357818" y="4495800"/>
            <a:ext cx="37863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Vasu Bansal.          35311503119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Sayyam Jain          02311503119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Rohan Khilnani     00411503119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/>
          </a:p>
        </p:txBody>
      </p:sp>
      <p:sp>
        <p:nvSpPr>
          <p:cNvPr id="110" name="Google Shape;110;p1"/>
          <p:cNvSpPr txBox="1">
            <a:spLocks noGrp="1"/>
          </p:cNvSpPr>
          <p:nvPr>
            <p:ph type="sldNum" idx="12"/>
          </p:nvPr>
        </p:nvSpPr>
        <p:spPr>
          <a:xfrm>
            <a:off x="7931381" y="6459785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</a:t>
            </a:fld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500000" y="1007287"/>
            <a:ext cx="84213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 sz="3200" b="1"/>
              <a:t>                              </a:t>
            </a:r>
            <a:r>
              <a:rPr lang="en-US" sz="3400" b="1"/>
              <a:t> ABSTRACT</a:t>
            </a:r>
            <a:endParaRPr sz="3400" b="1"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2</a:t>
            </a:fld>
            <a:endParaRPr sz="2000"/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21" name="Google Shape;121;p3"/>
          <p:cNvSpPr/>
          <p:nvPr/>
        </p:nvSpPr>
        <p:spPr>
          <a:xfrm>
            <a:off x="500002" y="1857364"/>
            <a:ext cx="86439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928926" y="592933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800100" y="1857375"/>
            <a:ext cx="7543800" cy="4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25000" lnSpcReduction="20000"/>
          </a:bodyPr>
          <a:lstStyle/>
          <a:p>
            <a:pPr marL="91440" lvl="0" indent="-1333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Air pollution is the largest environmental and public health</a:t>
            </a:r>
            <a:endParaRPr sz="8400"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8400" dirty="0"/>
              <a:t>challenge in the world today. Air pollution leads to adverse effects</a:t>
            </a:r>
            <a:endParaRPr sz="8400"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8400" dirty="0"/>
              <a:t>on Human health, climate and ecosystem.</a:t>
            </a:r>
            <a:endParaRPr sz="8400" dirty="0"/>
          </a:p>
          <a:p>
            <a:pPr marL="91440" lvl="0" indent="-13335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Air is getting polluted because of release of Toxic gases by industries, vehicular emissions and increased concentration of harmful gases and particulate matter in the atmosphere.</a:t>
            </a:r>
            <a:endParaRPr sz="8400" dirty="0"/>
          </a:p>
          <a:p>
            <a:pPr marL="91440" lvl="0" indent="-13335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Particulate matter is one of the most important parameter having the significant contribution to the increase in air pollution. </a:t>
            </a:r>
          </a:p>
          <a:p>
            <a:pPr marL="91440" lvl="0" indent="-13335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So in order to prevent us to expose from air pollution we need to predict air quality priorly and take necessary action.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342898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b="1"/>
              <a:t>                  </a:t>
            </a:r>
            <a:r>
              <a:rPr lang="en-US" sz="4000" b="1"/>
              <a:t>OBJECTIVES</a:t>
            </a:r>
            <a:endParaRPr sz="4000" b="1"/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3</a:t>
            </a:fld>
            <a:endParaRPr sz="2000"/>
          </a:p>
        </p:txBody>
      </p:sp>
      <p:sp>
        <p:nvSpPr>
          <p:cNvPr id="132" name="Google Shape;132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33" name="Google Shape;133;p4"/>
          <p:cNvSpPr txBox="1"/>
          <p:nvPr/>
        </p:nvSpPr>
        <p:spPr>
          <a:xfrm>
            <a:off x="294250" y="2086075"/>
            <a:ext cx="817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222222"/>
                </a:solidFill>
                <a:highlight>
                  <a:srgbClr val="FFFFFF"/>
                </a:highlight>
              </a:rPr>
              <a:t>Aim of the Project:</a:t>
            </a:r>
            <a:endParaRPr lang="en-US"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The goal is to develop a machine learning model for real-time air quality forecasting, by comparing the accuracy using supervised machine learning techniques like linear regression, Lasso regression, support vector regression.</a:t>
            </a:r>
            <a:endParaRPr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000" b="1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222222"/>
                </a:solidFill>
                <a:highlight>
                  <a:srgbClr val="FFFFFF"/>
                </a:highlight>
              </a:rPr>
              <a:t>Scope of the Project:</a:t>
            </a:r>
            <a:endParaRPr sz="2000" b="1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The project can be used to monitor the air quality index of a particular area and to predict the air quality and we can try to control the pollutants by taking necessary steps to avoid bad air quality.</a:t>
            </a:r>
            <a:endParaRPr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>
            <a:spLocks noGrp="1"/>
          </p:cNvSpPr>
          <p:nvPr>
            <p:ph type="title"/>
          </p:nvPr>
        </p:nvSpPr>
        <p:spPr>
          <a:xfrm>
            <a:off x="294248" y="821194"/>
            <a:ext cx="8458199" cy="7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INTRODUCTION</a:t>
            </a:r>
            <a:endParaRPr dirty="0"/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4</a:t>
            </a:fld>
            <a:endParaRPr sz="2000"/>
          </a:p>
        </p:txBody>
      </p:sp>
      <p:sp>
        <p:nvSpPr>
          <p:cNvPr id="142" name="Google Shape;142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43" name="Google Shape;143;p2"/>
          <p:cNvSpPr/>
          <p:nvPr/>
        </p:nvSpPr>
        <p:spPr>
          <a:xfrm>
            <a:off x="500100" y="1415845"/>
            <a:ext cx="8643900" cy="141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In the last decades, along with the rapid development of the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industrialization and urbanization, the increasing level of air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pollutant concentrations has been a growing rapidly.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26" name="Picture 2" descr="Air pollution">
            <a:extLst>
              <a:ext uri="{FF2B5EF4-FFF2-40B4-BE49-F238E27FC236}">
                <a16:creationId xmlns:a16="http://schemas.microsoft.com/office/drawing/2014/main" id="{4AD4F1FD-A1E0-43FF-9983-B5DB0DDA5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26" y="2472967"/>
            <a:ext cx="7649497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>
            <a:spLocks noGrp="1"/>
          </p:cNvSpPr>
          <p:nvPr>
            <p:ph type="title"/>
          </p:nvPr>
        </p:nvSpPr>
        <p:spPr>
          <a:xfrm>
            <a:off x="294248" y="821194"/>
            <a:ext cx="8458199" cy="7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200" u="sng" dirty="0"/>
              <a:t>Why should we care about air pollution?</a:t>
            </a:r>
            <a:endParaRPr sz="3200" u="sng" dirty="0"/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5</a:t>
            </a:fld>
            <a:endParaRPr sz="2000"/>
          </a:p>
        </p:txBody>
      </p:sp>
      <p:sp>
        <p:nvSpPr>
          <p:cNvPr id="142" name="Google Shape;142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pic>
        <p:nvPicPr>
          <p:cNvPr id="2050" name="Picture 2" descr="Why should we care about air pollution? — European Environment Agency">
            <a:extLst>
              <a:ext uri="{FF2B5EF4-FFF2-40B4-BE49-F238E27FC236}">
                <a16:creationId xmlns:a16="http://schemas.microsoft.com/office/drawing/2014/main" id="{1670FF76-E690-4984-B80A-9534ED87A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8" t="21287" r="17849" b="14806"/>
          <a:stretch/>
        </p:blipFill>
        <p:spPr bwMode="auto">
          <a:xfrm>
            <a:off x="391553" y="1572564"/>
            <a:ext cx="8140377" cy="471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88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>
            <a:spLocks noGrp="1"/>
          </p:cNvSpPr>
          <p:nvPr>
            <p:ph type="title"/>
          </p:nvPr>
        </p:nvSpPr>
        <p:spPr>
          <a:xfrm>
            <a:off x="457201" y="914400"/>
            <a:ext cx="8458199" cy="7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200" dirty="0"/>
              <a:t>Determinants of PM concentration.</a:t>
            </a:r>
            <a:endParaRPr sz="3200" dirty="0"/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6</a:t>
            </a:fld>
            <a:endParaRPr sz="2000"/>
          </a:p>
        </p:txBody>
      </p:sp>
      <p:sp>
        <p:nvSpPr>
          <p:cNvPr id="142" name="Google Shape;142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DC21E06-93FB-4A0C-AB83-082BA8BCD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4248" y="2162935"/>
            <a:ext cx="8163952" cy="374117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/>
              <a:t>Weather patterns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/>
              <a:t>Wind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/>
              <a:t>Stability (vertical movement of air)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/>
              <a:t>Turbulence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/>
              <a:t>Precipitation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/>
              <a:t>Topography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/>
              <a:t>Smokestack height and temperature of gases</a:t>
            </a:r>
          </a:p>
        </p:txBody>
      </p:sp>
    </p:spTree>
    <p:extLst>
      <p:ext uri="{BB962C8B-B14F-4D97-AF65-F5344CB8AC3E}">
        <p14:creationId xmlns:p14="http://schemas.microsoft.com/office/powerpoint/2010/main" val="124429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658423" y="847725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 sz="3200" b="1"/>
              <a:t>           </a:t>
            </a:r>
            <a:r>
              <a:rPr lang="en-US" sz="3300" b="1"/>
              <a:t> DESIGN AND METHODOLOGIES</a:t>
            </a:r>
            <a:endParaRPr sz="3300" b="1"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7</a:t>
            </a:fld>
            <a:endParaRPr sz="2000"/>
          </a:p>
        </p:txBody>
      </p:sp>
      <p:sp>
        <p:nvSpPr>
          <p:cNvPr id="182" name="Google Shape;182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83" name="Google Shape;183;p5"/>
          <p:cNvSpPr/>
          <p:nvPr/>
        </p:nvSpPr>
        <p:spPr>
          <a:xfrm>
            <a:off x="928651" y="2214568"/>
            <a:ext cx="29580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Collection and Processing of the Data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28718" y="3743326"/>
            <a:ext cx="29580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2: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Applying the machine learning algorithms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228598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MODULE 1</a:t>
            </a:r>
            <a:endParaRPr/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8</a:t>
            </a:fld>
            <a:endParaRPr sz="2000"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94" name="Google Shape;194;p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u="sng" dirty="0"/>
              <a:t>Data Collection and </a:t>
            </a:r>
            <a:r>
              <a:rPr lang="en-IN" u="sng" dirty="0"/>
              <a:t>Processing of data.</a:t>
            </a: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IN" u="sng" dirty="0"/>
          </a:p>
          <a:p>
            <a:pPr marL="434340">
              <a:spcBef>
                <a:spcPts val="0"/>
              </a:spcBef>
              <a:buSzPts val="2000"/>
              <a:buFont typeface="Wingdings" panose="05000000000000000000" pitchFamily="2" charset="2"/>
              <a:buChar char="q"/>
            </a:pPr>
            <a:r>
              <a:rPr lang="en-IN" dirty="0"/>
              <a:t>Collection Source:-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hlinkClick r:id="rId4"/>
              </a:rPr>
              <a:t>Weather in New Delhi / Palam during January 2020 - historical climate data (tutiempo.net)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5"/>
          <a:srcRect/>
          <a:stretch/>
        </p:blipFill>
        <p:spPr>
          <a:xfrm>
            <a:off x="1022808" y="3257452"/>
            <a:ext cx="7098383" cy="3086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>
            <a:spLocks noGrp="1"/>
          </p:cNvSpPr>
          <p:nvPr>
            <p:ph type="title"/>
          </p:nvPr>
        </p:nvSpPr>
        <p:spPr>
          <a:xfrm>
            <a:off x="228598" y="84435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200"/>
              <a:t>ARCHITECTURE DIAGRAM</a:t>
            </a:r>
            <a:endParaRPr sz="4200"/>
          </a:p>
        </p:txBody>
      </p:sp>
      <p:pic>
        <p:nvPicPr>
          <p:cNvPr id="213" name="Google Shape;213;p11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9</a:t>
            </a:fld>
            <a:endParaRPr sz="2000"/>
          </a:p>
        </p:txBody>
      </p:sp>
      <p:sp>
        <p:nvSpPr>
          <p:cNvPr id="215" name="Google Shape;215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216" name="Google Shape;216;p11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17" name="Google Shape;21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1767150"/>
            <a:ext cx="760095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228598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MODULE 2</a:t>
            </a:r>
            <a:endParaRPr dirty="0"/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10</a:t>
            </a:fld>
            <a:endParaRPr sz="2000"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94" name="Google Shape;194;p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893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Training using Machine learning Algorithms.</a:t>
            </a:r>
          </a:p>
          <a:p>
            <a:pPr marL="434340">
              <a:spcBef>
                <a:spcPts val="0"/>
              </a:spcBef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Data trained using linear regression algorithm.</a:t>
            </a:r>
          </a:p>
          <a:p>
            <a:pPr marL="434340">
              <a:spcBef>
                <a:spcPts val="0"/>
              </a:spcBef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Cross-validation score calculated and found out to be 0.410357.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C28292-3194-4989-B886-30985F3B8E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82" t="25580" r="48710" b="11529"/>
          <a:stretch/>
        </p:blipFill>
        <p:spPr>
          <a:xfrm>
            <a:off x="967246" y="2929626"/>
            <a:ext cx="4060722" cy="3234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3BD573-3C82-4D9F-8EFB-25C8636D8B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500" t="19052" r="50000"/>
          <a:stretch/>
        </p:blipFill>
        <p:spPr>
          <a:xfrm>
            <a:off x="5198860" y="2738755"/>
            <a:ext cx="3217853" cy="344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228598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MODULE 2</a:t>
            </a:r>
            <a:endParaRPr dirty="0"/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11</a:t>
            </a:fld>
            <a:endParaRPr sz="2000"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94" name="Google Shape;194;p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893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Training using Machine learning Algorithms.</a:t>
            </a:r>
          </a:p>
          <a:p>
            <a:pPr marL="434340">
              <a:spcBef>
                <a:spcPts val="0"/>
              </a:spcBef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Data trained using Lasso regression algorithm.</a:t>
            </a:r>
          </a:p>
          <a:p>
            <a:pPr marL="91440" indent="0">
              <a:spcBef>
                <a:spcPts val="0"/>
              </a:spcBef>
              <a:buSzPts val="2000"/>
              <a:buNone/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B3E07-87CB-4504-BBD7-87E6213825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994" r="59605" b="19053"/>
          <a:stretch/>
        </p:blipFill>
        <p:spPr>
          <a:xfrm>
            <a:off x="901164" y="2938810"/>
            <a:ext cx="3693695" cy="30837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3D9B4A-BCB7-4811-8180-80ACC3274D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218" r="57105"/>
          <a:stretch/>
        </p:blipFill>
        <p:spPr>
          <a:xfrm>
            <a:off x="4901671" y="2738397"/>
            <a:ext cx="3465089" cy="34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7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228598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MODULE 2</a:t>
            </a:r>
            <a:endParaRPr dirty="0"/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12</a:t>
            </a:fld>
            <a:endParaRPr sz="2000"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94" name="Google Shape;194;p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893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77500" lnSpcReduction="200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Training using Machine learning Algorithms.</a:t>
            </a:r>
          </a:p>
          <a:p>
            <a:pPr marL="434340">
              <a:spcBef>
                <a:spcPts val="0"/>
              </a:spcBef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Three different metrics were calculated.</a:t>
            </a:r>
          </a:p>
          <a:p>
            <a:pPr marL="891540" lvl="1">
              <a:spcBef>
                <a:spcPts val="0"/>
              </a:spcBef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Mean Absolute Error</a:t>
            </a:r>
          </a:p>
          <a:p>
            <a:pPr marL="891540" lvl="1">
              <a:spcBef>
                <a:spcPts val="0"/>
              </a:spcBef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Mean squared Error</a:t>
            </a:r>
          </a:p>
          <a:p>
            <a:pPr marL="891540" lvl="1">
              <a:spcBef>
                <a:spcPts val="0"/>
              </a:spcBef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Root mean squared error.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D4AC1-3E51-4F81-985E-BEA1E34210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39486" r="50727" b="33080"/>
          <a:stretch/>
        </p:blipFill>
        <p:spPr>
          <a:xfrm>
            <a:off x="822959" y="4532541"/>
            <a:ext cx="4964799" cy="1711390"/>
          </a:xfrm>
          <a:prstGeom prst="rect">
            <a:avLst/>
          </a:prstGeom>
        </p:spPr>
      </p:pic>
      <p:pic>
        <p:nvPicPr>
          <p:cNvPr id="7" name="Picture 6" descr="metrics for Liner=ar regression results.&#10;">
            <a:extLst>
              <a:ext uri="{FF2B5EF4-FFF2-40B4-BE49-F238E27FC236}">
                <a16:creationId xmlns:a16="http://schemas.microsoft.com/office/drawing/2014/main" id="{39AA9998-F033-4511-8652-2E48EA6878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5329" r="50000" b="36580"/>
          <a:stretch/>
        </p:blipFill>
        <p:spPr>
          <a:xfrm>
            <a:off x="822958" y="2851144"/>
            <a:ext cx="4964799" cy="1569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3AD779-3CF6-41F1-BBC4-0877CA795A61}"/>
              </a:ext>
            </a:extLst>
          </p:cNvPr>
          <p:cNvSpPr txBox="1"/>
          <p:nvPr/>
        </p:nvSpPr>
        <p:spPr>
          <a:xfrm>
            <a:off x="5919019" y="3146323"/>
            <a:ext cx="287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Linear regression prediction metrics.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5940B-E48D-42B4-A1F6-E923F2FE9320}"/>
              </a:ext>
            </a:extLst>
          </p:cNvPr>
          <p:cNvSpPr txBox="1"/>
          <p:nvPr/>
        </p:nvSpPr>
        <p:spPr>
          <a:xfrm>
            <a:off x="5919019" y="4916749"/>
            <a:ext cx="287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Lasso regression prediction metrics.</a:t>
            </a:r>
          </a:p>
        </p:txBody>
      </p:sp>
    </p:spTree>
    <p:extLst>
      <p:ext uri="{BB962C8B-B14F-4D97-AF65-F5344CB8AC3E}">
        <p14:creationId xmlns:p14="http://schemas.microsoft.com/office/powerpoint/2010/main" val="2112991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title"/>
          </p:nvPr>
        </p:nvSpPr>
        <p:spPr>
          <a:xfrm>
            <a:off x="228598" y="8169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400"/>
              <a:t>DATA FLOW DIAGRAM</a:t>
            </a:r>
            <a:endParaRPr sz="4400"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114300" y="4320"/>
            <a:ext cx="8915401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13</a:t>
            </a:fld>
            <a:endParaRPr sz="2000"/>
          </a:p>
        </p:txBody>
      </p:sp>
      <p:sp>
        <p:nvSpPr>
          <p:cNvPr id="226" name="Google Shape;226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227" name="Google Shape;227;p1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28" name="Google Shape;22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250" y="1739700"/>
            <a:ext cx="7858875" cy="44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>
            <a:spLocks noGrp="1"/>
          </p:cNvSpPr>
          <p:nvPr>
            <p:ph type="title"/>
          </p:nvPr>
        </p:nvSpPr>
        <p:spPr>
          <a:xfrm>
            <a:off x="66723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300"/>
              <a:t>CONCLUSIONS </a:t>
            </a:r>
            <a:endParaRPr sz="4300"/>
          </a:p>
        </p:txBody>
      </p:sp>
      <p:pic>
        <p:nvPicPr>
          <p:cNvPr id="235" name="Google Shape;235;p13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14</a:t>
            </a:fld>
            <a:endParaRPr sz="2000"/>
          </a:p>
        </p:txBody>
      </p:sp>
      <p:sp>
        <p:nvSpPr>
          <p:cNvPr id="237" name="Google Shape;237;p1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238" name="Google Shape;238;p13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3434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This study concentrates on the prediction of pollutants present in the air. </a:t>
            </a:r>
          </a:p>
          <a:p>
            <a:pPr marL="43434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collection was done, and suitable data analyzed to make the best model for better prediction.</a:t>
            </a:r>
          </a:p>
          <a:p>
            <a:pPr marL="43434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collected data trained using Linear Regression, and Lasso Regression</a:t>
            </a:r>
            <a:r>
              <a:rPr lang="en-US" sz="2400" dirty="0"/>
              <a:t>. Where, Lasso worked better.</a:t>
            </a:r>
            <a:endParaRPr sz="24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3434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There after selective algorithms will be applied on the data and to find the accurate ones for predicting the air quality. </a:t>
            </a: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554</Words>
  <Application>Microsoft Office PowerPoint</Application>
  <PresentationFormat>On-screen Show (4:3)</PresentationFormat>
  <Paragraphs>111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Noto Sans Symbols</vt:lpstr>
      <vt:lpstr>Times New Roman</vt:lpstr>
      <vt:lpstr>Wingdings</vt:lpstr>
      <vt:lpstr>Retrospect</vt:lpstr>
      <vt:lpstr>  PREDICTION OF AIR QUALITY INDEX USING MACHINE LEARNING  </vt:lpstr>
      <vt:lpstr>                               ABSTRACT</vt:lpstr>
      <vt:lpstr>                  OBJECTIVES</vt:lpstr>
      <vt:lpstr>INTRODUCTION</vt:lpstr>
      <vt:lpstr>Why should we care about air pollution?</vt:lpstr>
      <vt:lpstr>Determinants of PM concentration.</vt:lpstr>
      <vt:lpstr>            DESIGN AND METHODOLOGIES</vt:lpstr>
      <vt:lpstr>MODULE 1</vt:lpstr>
      <vt:lpstr>ARCHITECTURE DIAGRAM</vt:lpstr>
      <vt:lpstr>MODULE 2</vt:lpstr>
      <vt:lpstr>MODULE 2</vt:lpstr>
      <vt:lpstr>MODULE 2</vt:lpstr>
      <vt:lpstr>DATA FLOW DIAGRAM</vt:lpstr>
      <vt:lpstr>CONCLUSIONS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AIR QUALITY INDEX USING MACHINE LEARNING  </dc:title>
  <dc:creator>Abhishek Gagneja</dc:creator>
  <cp:lastModifiedBy>Sayyam</cp:lastModifiedBy>
  <cp:revision>6</cp:revision>
  <dcterms:created xsi:type="dcterms:W3CDTF">2019-08-29T03:47:17Z</dcterms:created>
  <dcterms:modified xsi:type="dcterms:W3CDTF">2021-12-28T06:35:11Z</dcterms:modified>
</cp:coreProperties>
</file>